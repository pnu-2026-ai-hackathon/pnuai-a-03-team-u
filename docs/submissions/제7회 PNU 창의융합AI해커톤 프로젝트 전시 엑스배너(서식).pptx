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C"/>
    <a:srgbClr val="000517"/>
    <a:srgbClr val="002A6E"/>
    <a:srgbClr val="004180"/>
    <a:srgbClr val="006395"/>
    <a:srgbClr val="000000"/>
    <a:srgbClr val="FFF34C"/>
    <a:srgbClr val="F7F7F7"/>
    <a:srgbClr val="007AE7"/>
    <a:srgbClr val="00B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3" autoAdjust="0"/>
    <p:restoredTop sz="94689"/>
  </p:normalViewPr>
  <p:slideViewPr>
    <p:cSldViewPr snapToGrid="0" snapToObjects="1">
      <p:cViewPr>
        <p:scale>
          <a:sx n="101" d="100"/>
          <a:sy n="101" d="100"/>
        </p:scale>
        <p:origin x="184" y="-7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177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428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621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198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347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879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816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385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99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951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079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14B9C-E907-DE49-9C7D-16AAC677FB9B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48C2-3B16-C345-ADD9-58AEE8D2B17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39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1C23F831-DA9B-4B6A-ADB7-3C99C42D8DE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5663"/>
          <a:stretch/>
        </p:blipFill>
        <p:spPr>
          <a:xfrm rot="16200000">
            <a:off x="8192333" y="-8261608"/>
            <a:ext cx="5145583" cy="21668796"/>
          </a:xfrm>
          <a:prstGeom prst="rect">
            <a:avLst/>
          </a:prstGeom>
        </p:spPr>
      </p:pic>
      <p:sp>
        <p:nvSpPr>
          <p:cNvPr id="28" name="양쪽 모서리가 둥근 사각형 27">
            <a:extLst>
              <a:ext uri="{FF2B5EF4-FFF2-40B4-BE49-F238E27FC236}">
                <a16:creationId xmlns:a16="http://schemas.microsoft.com/office/drawing/2014/main" id="{3FC8A020-BAD2-174E-8E17-51A3821E5FA5}"/>
              </a:ext>
            </a:extLst>
          </p:cNvPr>
          <p:cNvSpPr/>
          <p:nvPr/>
        </p:nvSpPr>
        <p:spPr>
          <a:xfrm rot="5400000">
            <a:off x="8278420" y="-1709693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C34D82C-957B-3643-A70C-00E1D4358A2A}"/>
              </a:ext>
            </a:extLst>
          </p:cNvPr>
          <p:cNvGrpSpPr/>
          <p:nvPr/>
        </p:nvGrpSpPr>
        <p:grpSpPr>
          <a:xfrm>
            <a:off x="1767635" y="5977189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A3C59623-1FD3-E64E-8131-F61BCB100A96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C20CA34A-192B-E34E-B223-8DDDF322D65E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7065441-85E2-1647-866C-9C5BA09E71FF}"/>
              </a:ext>
            </a:extLst>
          </p:cNvPr>
          <p:cNvSpPr txBox="1"/>
          <p:nvPr/>
        </p:nvSpPr>
        <p:spPr>
          <a:xfrm>
            <a:off x="2680394" y="5966502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7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개요</a:t>
            </a:r>
          </a:p>
        </p:txBody>
      </p:sp>
      <p:sp>
        <p:nvSpPr>
          <p:cNvPr id="11" name="사다리꼴[T] 3">
            <a:extLst>
              <a:ext uri="{FF2B5EF4-FFF2-40B4-BE49-F238E27FC236}">
                <a16:creationId xmlns:a16="http://schemas.microsoft.com/office/drawing/2014/main" id="{5B9755EA-4946-AB4A-BB42-79A2AA3D592E}"/>
              </a:ext>
            </a:extLst>
          </p:cNvPr>
          <p:cNvSpPr/>
          <p:nvPr/>
        </p:nvSpPr>
        <p:spPr>
          <a:xfrm rot="10800000">
            <a:off x="-34639" y="2233589"/>
            <a:ext cx="21599525" cy="2904229"/>
          </a:xfrm>
          <a:custGeom>
            <a:avLst/>
            <a:gdLst>
              <a:gd name="connsiteX0" fmla="*/ 0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0 w 21599525"/>
              <a:gd name="connsiteY4" fmla="*/ 2904229 h 2904229"/>
              <a:gd name="connsiteX0" fmla="*/ 4127157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4127157 w 21599525"/>
              <a:gd name="connsiteY4" fmla="*/ 2904229 h 2904229"/>
              <a:gd name="connsiteX0" fmla="*/ 3093227 w 21599525"/>
              <a:gd name="connsiteY0" fmla="*/ 2904229 h 2904229"/>
              <a:gd name="connsiteX1" fmla="*/ 0 w 21599525"/>
              <a:gd name="connsiteY1" fmla="*/ 0 h 2904229"/>
              <a:gd name="connsiteX2" fmla="*/ 21599525 w 21599525"/>
              <a:gd name="connsiteY2" fmla="*/ 0 h 2904229"/>
              <a:gd name="connsiteX3" fmla="*/ 21599525 w 21599525"/>
              <a:gd name="connsiteY3" fmla="*/ 2904229 h 2904229"/>
              <a:gd name="connsiteX4" fmla="*/ 3093227 w 21599525"/>
              <a:gd name="connsiteY4" fmla="*/ 2904229 h 2904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99525" h="2904229">
                <a:moveTo>
                  <a:pt x="3093227" y="2904229"/>
                </a:moveTo>
                <a:lnTo>
                  <a:pt x="0" y="0"/>
                </a:lnTo>
                <a:lnTo>
                  <a:pt x="21599525" y="0"/>
                </a:lnTo>
                <a:lnTo>
                  <a:pt x="21599525" y="2904229"/>
                </a:lnTo>
                <a:lnTo>
                  <a:pt x="3093227" y="2904229"/>
                </a:lnTo>
                <a:close/>
              </a:path>
            </a:pathLst>
          </a:custGeom>
          <a:gradFill flip="none" rotWithShape="1">
            <a:gsLst>
              <a:gs pos="15000">
                <a:srgbClr val="004180">
                  <a:alpha val="51000"/>
                </a:srgbClr>
              </a:gs>
              <a:gs pos="59000">
                <a:srgbClr val="00000C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삼각형 11">
            <a:extLst>
              <a:ext uri="{FF2B5EF4-FFF2-40B4-BE49-F238E27FC236}">
                <a16:creationId xmlns:a16="http://schemas.microsoft.com/office/drawing/2014/main" id="{7F25AC1F-B848-484B-8100-D1B3AC77A7D0}"/>
              </a:ext>
            </a:extLst>
          </p:cNvPr>
          <p:cNvSpPr/>
          <p:nvPr/>
        </p:nvSpPr>
        <p:spPr>
          <a:xfrm rot="10800000">
            <a:off x="17599023" y="5114915"/>
            <a:ext cx="4000502" cy="3829741"/>
          </a:xfrm>
          <a:prstGeom prst="triangle">
            <a:avLst>
              <a:gd name="adj" fmla="val 0"/>
            </a:avLst>
          </a:prstGeom>
          <a:gradFill>
            <a:gsLst>
              <a:gs pos="21000">
                <a:srgbClr val="000517"/>
              </a:gs>
              <a:gs pos="86000">
                <a:srgbClr val="002A6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D2C4A-4A48-7842-A75F-A117924B5E3E}"/>
              </a:ext>
            </a:extLst>
          </p:cNvPr>
          <p:cNvSpPr txBox="1"/>
          <p:nvPr/>
        </p:nvSpPr>
        <p:spPr>
          <a:xfrm>
            <a:off x="1059384" y="3847987"/>
            <a:ext cx="155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800" dirty="0">
                <a:solidFill>
                  <a:schemeClr val="bg1"/>
                </a:solidFill>
              </a:rPr>
              <a:t>[</a:t>
            </a:r>
            <a:r>
              <a:rPr kumimoji="1" lang="ko-KR" altLang="en-US" sz="4800" dirty="0">
                <a:solidFill>
                  <a:schemeClr val="bg1"/>
                </a:solidFill>
              </a:rPr>
              <a:t>융합</a:t>
            </a:r>
            <a:r>
              <a:rPr kumimoji="1" lang="en-US" altLang="ko-KR" sz="4800" dirty="0">
                <a:solidFill>
                  <a:schemeClr val="bg1"/>
                </a:solidFill>
              </a:rPr>
              <a:t>]03 </a:t>
            </a:r>
            <a:r>
              <a:rPr kumimoji="1" lang="en-US" altLang="ko-KR" sz="4800" dirty="0" err="1">
                <a:solidFill>
                  <a:schemeClr val="bg1"/>
                </a:solidFill>
              </a:rPr>
              <a:t>Team_U</a:t>
            </a:r>
            <a:r>
              <a:rPr kumimoji="1" lang="en-US" altLang="ko-KR" sz="4800" dirty="0">
                <a:solidFill>
                  <a:schemeClr val="bg1"/>
                </a:solidFill>
              </a:rPr>
              <a:t> / </a:t>
            </a:r>
            <a:r>
              <a:rPr kumimoji="1" lang="ko-KR" altLang="en-US" sz="4800" dirty="0">
                <a:solidFill>
                  <a:schemeClr val="bg1"/>
                </a:solidFill>
              </a:rPr>
              <a:t>이도원</a:t>
            </a:r>
            <a:r>
              <a:rPr kumimoji="1" lang="en-US" altLang="ko-KR" sz="4800" dirty="0">
                <a:solidFill>
                  <a:schemeClr val="bg1"/>
                </a:solidFill>
              </a:rPr>
              <a:t>,</a:t>
            </a:r>
            <a:r>
              <a:rPr kumimoji="1" lang="ko-KR" altLang="en-US" sz="4800" dirty="0">
                <a:solidFill>
                  <a:schemeClr val="bg1"/>
                </a:solidFill>
              </a:rPr>
              <a:t> 조현우</a:t>
            </a:r>
            <a:r>
              <a:rPr kumimoji="1" lang="en-US" altLang="ko-KR" sz="4800" dirty="0">
                <a:solidFill>
                  <a:schemeClr val="bg1"/>
                </a:solidFill>
              </a:rPr>
              <a:t>,</a:t>
            </a:r>
            <a:r>
              <a:rPr kumimoji="1" lang="ko-KR" altLang="en-US" sz="4800" dirty="0">
                <a:solidFill>
                  <a:schemeClr val="bg1"/>
                </a:solidFill>
              </a:rPr>
              <a:t> 한고은</a:t>
            </a:r>
            <a:r>
              <a:rPr kumimoji="1" lang="en-US" altLang="ko-KR" sz="4800" dirty="0">
                <a:solidFill>
                  <a:schemeClr val="bg1"/>
                </a:solidFill>
              </a:rPr>
              <a:t>,</a:t>
            </a:r>
            <a:r>
              <a:rPr kumimoji="1" lang="ko-KR" altLang="en-US" sz="4800" dirty="0">
                <a:solidFill>
                  <a:schemeClr val="bg1"/>
                </a:solidFill>
              </a:rPr>
              <a:t> 이민석</a:t>
            </a:r>
            <a:r>
              <a:rPr kumimoji="1" lang="en-US" altLang="ko-KR" sz="4800" dirty="0">
                <a:solidFill>
                  <a:schemeClr val="bg1"/>
                </a:solidFill>
              </a:rPr>
              <a:t>,</a:t>
            </a:r>
            <a:r>
              <a:rPr kumimoji="1" lang="ko-KR" altLang="en-US" sz="4800" dirty="0">
                <a:solidFill>
                  <a:schemeClr val="bg1"/>
                </a:solidFill>
              </a:rPr>
              <a:t> 안선주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74601-CAE8-4614-AA5F-18D3F0D8F3E6}"/>
              </a:ext>
            </a:extLst>
          </p:cNvPr>
          <p:cNvSpPr txBox="1"/>
          <p:nvPr/>
        </p:nvSpPr>
        <p:spPr>
          <a:xfrm>
            <a:off x="1059384" y="2553117"/>
            <a:ext cx="191818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6000" b="1" dirty="0">
                <a:solidFill>
                  <a:schemeClr val="bg1"/>
                </a:solidFill>
              </a:rPr>
              <a:t>부산대학교 학생을 위한 </a:t>
            </a:r>
            <a:r>
              <a:rPr kumimoji="1" lang="en-US" altLang="ko-KR" sz="6000" b="1" dirty="0">
                <a:solidFill>
                  <a:schemeClr val="bg1"/>
                </a:solidFill>
              </a:rPr>
              <a:t>AI </a:t>
            </a:r>
            <a:r>
              <a:rPr kumimoji="1" lang="ko-KR" altLang="en-US" sz="6000" b="1" dirty="0">
                <a:solidFill>
                  <a:schemeClr val="bg1"/>
                </a:solidFill>
              </a:rPr>
              <a:t>기반 맞춤형 학업 설계 서비스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03821-3044-2A09-61BC-D25090584DED}"/>
              </a:ext>
            </a:extLst>
          </p:cNvPr>
          <p:cNvSpPr txBox="1"/>
          <p:nvPr/>
        </p:nvSpPr>
        <p:spPr>
          <a:xfrm>
            <a:off x="14257773" y="5797225"/>
            <a:ext cx="2649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Background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6AF5D3C-DEF0-4B64-B276-6043C9723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3276" y="694340"/>
            <a:ext cx="3160396" cy="1055692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2623D155-266D-40C9-8DA7-D79009F39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853" y="628488"/>
            <a:ext cx="13337091" cy="1040943"/>
          </a:xfrm>
          <a:prstGeom prst="rect">
            <a:avLst/>
          </a:prstGeom>
        </p:spPr>
      </p:pic>
      <p:sp>
        <p:nvSpPr>
          <p:cNvPr id="7" name="양쪽 모서리가 둥근 사각형 6">
            <a:extLst>
              <a:ext uri="{FF2B5EF4-FFF2-40B4-BE49-F238E27FC236}">
                <a16:creationId xmlns:a16="http://schemas.microsoft.com/office/drawing/2014/main" id="{530FDAF2-0FBD-92CC-9D4F-CACADDA04E0B}"/>
              </a:ext>
            </a:extLst>
          </p:cNvPr>
          <p:cNvSpPr/>
          <p:nvPr/>
        </p:nvSpPr>
        <p:spPr>
          <a:xfrm rot="5400000">
            <a:off x="8369391" y="5154194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7F9EDD1-7037-F1CF-1F00-67CEC72A7A48}"/>
              </a:ext>
            </a:extLst>
          </p:cNvPr>
          <p:cNvGrpSpPr/>
          <p:nvPr/>
        </p:nvGrpSpPr>
        <p:grpSpPr>
          <a:xfrm>
            <a:off x="1648457" y="12769800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B1BB65B7-7378-13C1-75BB-0F037077412C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97512345-8C7B-A65F-14E6-5AC742FD64D1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A040F5-F239-3174-3387-606650248A10}"/>
              </a:ext>
            </a:extLst>
          </p:cNvPr>
          <p:cNvSpPr txBox="1"/>
          <p:nvPr/>
        </p:nvSpPr>
        <p:spPr>
          <a:xfrm>
            <a:off x="2561216" y="12712866"/>
            <a:ext cx="70647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7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실제 </a:t>
            </a:r>
            <a:r>
              <a:rPr kumimoji="1" lang="ko-KR" altLang="en-US" sz="7200">
                <a:solidFill>
                  <a:schemeClr val="tx1">
                    <a:lumMod val="95000"/>
                    <a:lumOff val="5000"/>
                  </a:schemeClr>
                </a:solidFill>
              </a:rPr>
              <a:t>서비스 화면</a:t>
            </a:r>
            <a:endParaRPr kumimoji="1" lang="ko-KR" altLang="en-US" sz="7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BFC64-E6BC-46F0-124F-24CCFD232443}"/>
              </a:ext>
            </a:extLst>
          </p:cNvPr>
          <p:cNvSpPr txBox="1"/>
          <p:nvPr/>
        </p:nvSpPr>
        <p:spPr>
          <a:xfrm>
            <a:off x="14845519" y="12678477"/>
            <a:ext cx="1942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3F3C1-B0BC-E86E-F057-274CED06174C}"/>
              </a:ext>
            </a:extLst>
          </p:cNvPr>
          <p:cNvSpPr txBox="1"/>
          <p:nvPr/>
        </p:nvSpPr>
        <p:spPr>
          <a:xfrm>
            <a:off x="10142973" y="7505897"/>
            <a:ext cx="773862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개발 배경</a:t>
            </a:r>
            <a:endParaRPr kumimoji="1" lang="en-US" altLang="ko-KR" sz="1400" dirty="0"/>
          </a:p>
          <a:p>
            <a:r>
              <a:rPr kumimoji="1" lang="ko-KR" altLang="en-US" sz="1400" dirty="0"/>
              <a:t> </a:t>
            </a:r>
            <a:r>
              <a:rPr lang="ko-KR" altLang="ko-KR" sz="1400" b="1" dirty="0"/>
              <a:t>1.</a:t>
            </a:r>
            <a:r>
              <a:rPr lang="ko-KR" altLang="ko-KR" sz="1400" dirty="0"/>
              <a:t> </a:t>
            </a:r>
            <a:r>
              <a:rPr lang="ko-KR" altLang="ko-KR" sz="1400" dirty="0" err="1"/>
              <a:t>학사·비교과·취업·자격증</a:t>
            </a:r>
            <a:r>
              <a:rPr lang="ko-KR" altLang="ko-KR" sz="1400" dirty="0"/>
              <a:t> 정보가 </a:t>
            </a:r>
            <a:r>
              <a:rPr lang="ko-KR" altLang="ko-KR" sz="1400" dirty="0" err="1"/>
              <a:t>학지시·수강신청·포털</a:t>
            </a:r>
            <a:r>
              <a:rPr lang="ko-KR" altLang="ko-KR" sz="1400" dirty="0"/>
              <a:t> 등 </a:t>
            </a:r>
            <a:r>
              <a:rPr lang="ko-KR" altLang="ko-KR" sz="1400" b="1" dirty="0"/>
              <a:t>여러 시스템과 외부 사이트에 분산</a:t>
            </a:r>
            <a:r>
              <a:rPr lang="ko-KR" altLang="ko-KR" sz="1400" dirty="0"/>
              <a:t>되어, 학생이 자신의 학업 현황을 한 번에 파악하기 어려움</a:t>
            </a:r>
          </a:p>
          <a:p>
            <a:r>
              <a:rPr lang="ko-KR" altLang="ko-KR" sz="1400" b="1" dirty="0"/>
              <a:t>2.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졸업요건·이수학점·필수과목</a:t>
            </a:r>
            <a:r>
              <a:rPr lang="ko-KR" altLang="ko-KR" sz="1400" dirty="0"/>
              <a:t> </a:t>
            </a:r>
            <a:r>
              <a:rPr lang="ko-KR" altLang="ko-KR" sz="1400" dirty="0" err="1"/>
              <a:t>확인·계산이</a:t>
            </a:r>
            <a:r>
              <a:rPr lang="ko-KR" altLang="ko-KR" sz="1400" dirty="0"/>
              <a:t> 어렵다는 응답 </a:t>
            </a:r>
            <a:r>
              <a:rPr lang="ko-KR" altLang="ko-KR" sz="1400" b="1" dirty="0"/>
              <a:t>63.4%</a:t>
            </a:r>
            <a:r>
              <a:rPr lang="ko-KR" altLang="ko-KR" sz="1400" dirty="0"/>
              <a:t>(재학생 설문 </a:t>
            </a:r>
            <a:r>
              <a:rPr lang="ko-KR" altLang="ko-KR" sz="1400" dirty="0" err="1"/>
              <a:t>N</a:t>
            </a:r>
            <a:r>
              <a:rPr lang="ko-KR" altLang="ko-KR" sz="1400" dirty="0"/>
              <a:t>=93), </a:t>
            </a:r>
            <a:r>
              <a:rPr lang="ko-KR" altLang="ko-KR" sz="1400" dirty="0" err="1"/>
              <a:t>복수전공·부전공자는</a:t>
            </a:r>
            <a:r>
              <a:rPr lang="ko-KR" altLang="ko-KR" sz="1400" dirty="0"/>
              <a:t> 요건이 중첩되어 부담 가중</a:t>
            </a:r>
          </a:p>
          <a:p>
            <a:r>
              <a:rPr lang="ko-KR" altLang="ko-KR" sz="1400" b="1" dirty="0"/>
              <a:t>3.</a:t>
            </a:r>
            <a:r>
              <a:rPr lang="ko-KR" altLang="ko-KR" sz="1400" dirty="0"/>
              <a:t> 매 학기 수강 계획 수립에 대해 </a:t>
            </a:r>
            <a:r>
              <a:rPr lang="ko-KR" altLang="ko-KR" sz="1400" b="1" dirty="0"/>
              <a:t>4명 중 3명</a:t>
            </a:r>
            <a:r>
              <a:rPr lang="ko-KR" altLang="ko-KR" sz="1400" dirty="0"/>
              <a:t>이 쉽지 않다고 응답, 장기 로드맵 없이 학기 단위 임기응변식 수강신청 반복</a:t>
            </a:r>
          </a:p>
          <a:p>
            <a:r>
              <a:rPr lang="ko-KR" altLang="ko-KR" sz="1400" b="1" dirty="0"/>
              <a:t>4.</a:t>
            </a:r>
            <a:r>
              <a:rPr lang="ko-KR" altLang="ko-KR" sz="1400" dirty="0"/>
              <a:t> </a:t>
            </a:r>
            <a:r>
              <a:rPr lang="ko-KR" altLang="ko-KR" sz="1400" dirty="0" err="1"/>
              <a:t>학생지원시스템·산지니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AI는</a:t>
            </a:r>
            <a:r>
              <a:rPr lang="ko-KR" altLang="ko-KR" sz="1400" dirty="0"/>
              <a:t> 정보 조회와 범용 AI 활용에 초점, 개인의 </a:t>
            </a:r>
            <a:r>
              <a:rPr lang="ko-KR" altLang="ko-KR" sz="1400" b="1" dirty="0" err="1"/>
              <a:t>이수내역·졸업요건·다중전공을</a:t>
            </a:r>
            <a:r>
              <a:rPr lang="ko-KR" altLang="ko-KR" sz="1400" b="1" dirty="0"/>
              <a:t> 구조화해 수강계획을 설계하는 도구 부재</a:t>
            </a:r>
            <a:endParaRPr lang="ko-KR" altLang="ko-KR" sz="1400" dirty="0"/>
          </a:p>
          <a:p>
            <a:endParaRPr kumimoji="1"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0F7918-4834-EC92-0145-9957B21BE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82" y="7405661"/>
            <a:ext cx="4436629" cy="48916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5C1D99B-70EC-F7DE-E3E3-0197303FB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152" y="7405661"/>
            <a:ext cx="4484680" cy="49446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B7A718-C204-32D7-59FB-3F85A9D218C8}"/>
              </a:ext>
            </a:extLst>
          </p:cNvPr>
          <p:cNvSpPr txBox="1"/>
          <p:nvPr/>
        </p:nvSpPr>
        <p:spPr>
          <a:xfrm>
            <a:off x="10243630" y="9726157"/>
            <a:ext cx="773862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ko-KR" sz="1400" dirty="0"/>
              <a:t>개발 목표</a:t>
            </a:r>
          </a:p>
          <a:p>
            <a:pPr lvl="0"/>
            <a:r>
              <a:rPr lang="ko-KR" altLang="ko-KR" sz="1400" b="1" dirty="0"/>
              <a:t>1. 내 정보 확인</a:t>
            </a:r>
            <a:r>
              <a:rPr lang="ko-KR" altLang="ko-KR" sz="1400" dirty="0"/>
              <a:t> — </a:t>
            </a:r>
            <a:r>
              <a:rPr lang="ko-KR" altLang="ko-KR" sz="1400" dirty="0" err="1"/>
              <a:t>학지시</a:t>
            </a:r>
            <a:r>
              <a:rPr lang="ko-KR" altLang="ko-KR" sz="1400" dirty="0"/>
              <a:t> </a:t>
            </a:r>
            <a:r>
              <a:rPr lang="ko-KR" altLang="ko-KR" sz="1400" dirty="0" err="1"/>
              <a:t>크롤링으로</a:t>
            </a:r>
            <a:r>
              <a:rPr lang="ko-KR" altLang="ko-KR" sz="1400" dirty="0"/>
              <a:t> </a:t>
            </a:r>
            <a:r>
              <a:rPr lang="ko-KR" altLang="ko-KR" sz="1400" dirty="0" err="1"/>
              <a:t>학적·성적·이수내역을</a:t>
            </a:r>
            <a:r>
              <a:rPr lang="ko-KR" altLang="ko-KR" sz="1400" dirty="0"/>
              <a:t> </a:t>
            </a:r>
            <a:r>
              <a:rPr lang="ko-KR" altLang="ko-KR" sz="1400" b="1" dirty="0"/>
              <a:t>자동 </a:t>
            </a:r>
            <a:r>
              <a:rPr lang="ko-KR" altLang="ko-KR" sz="1400" b="1" dirty="0" err="1"/>
              <a:t>수집·통합</a:t>
            </a:r>
            <a:r>
              <a:rPr lang="ko-KR" altLang="ko-KR" sz="1400" dirty="0" err="1"/>
              <a:t>해</a:t>
            </a:r>
            <a:r>
              <a:rPr lang="ko-KR" altLang="ko-KR" sz="1400" dirty="0"/>
              <a:t>, 흩어져 있던 학업 현황을 한 화면에서 확인</a:t>
            </a:r>
          </a:p>
          <a:p>
            <a:pPr lvl="0"/>
            <a:r>
              <a:rPr lang="ko-KR" altLang="ko-KR" sz="1400" b="1" dirty="0"/>
              <a:t>2. 다중 졸업요건 분석</a:t>
            </a:r>
            <a:r>
              <a:rPr lang="ko-KR" altLang="ko-KR" sz="1400" dirty="0"/>
              <a:t> — </a:t>
            </a:r>
            <a:r>
              <a:rPr lang="ko-KR" altLang="ko-KR" sz="1400" dirty="0" err="1"/>
              <a:t>주전공·복수전공·부전공</a:t>
            </a:r>
            <a:r>
              <a:rPr lang="ko-KR" altLang="ko-KR" sz="1400" dirty="0"/>
              <a:t> 요건을 </a:t>
            </a:r>
            <a:r>
              <a:rPr lang="ko-KR" altLang="ko-KR" sz="1400" b="1" dirty="0"/>
              <a:t>규칙 기반 검증 엔진</a:t>
            </a:r>
            <a:r>
              <a:rPr lang="ko-KR" altLang="ko-KR" sz="1400" dirty="0"/>
              <a:t>으로 각각 판정하고 중복 인정까지 반영해, 이수구분별 남은 학점 자동 산출</a:t>
            </a:r>
          </a:p>
          <a:p>
            <a:pPr lvl="0"/>
            <a:r>
              <a:rPr lang="ko-KR" altLang="ko-KR" sz="1400" b="1" dirty="0"/>
              <a:t>3. 성장 로드맵</a:t>
            </a:r>
            <a:r>
              <a:rPr lang="ko-KR" altLang="ko-KR" sz="1400" dirty="0"/>
              <a:t> — 남은 </a:t>
            </a:r>
            <a:r>
              <a:rPr lang="ko-KR" altLang="ko-KR" sz="1400" dirty="0" err="1"/>
              <a:t>요건·진로</a:t>
            </a:r>
            <a:r>
              <a:rPr lang="ko-KR" altLang="ko-KR" sz="1400" dirty="0"/>
              <a:t> 목표를 반영한 </a:t>
            </a:r>
            <a:r>
              <a:rPr lang="ko-KR" altLang="ko-KR" sz="1400" b="1" dirty="0"/>
              <a:t>1~4학년 학기별 수강 계획을 AI 상담으로 설계</a:t>
            </a:r>
            <a:r>
              <a:rPr lang="ko-KR" altLang="ko-KR" sz="1400" dirty="0"/>
              <a:t>, 사용자가 승인한 항목만 반영(</a:t>
            </a:r>
            <a:r>
              <a:rPr lang="ko-KR" altLang="ko-KR" sz="1400" dirty="0" err="1"/>
              <a:t>Human-in-the-loop</a:t>
            </a:r>
            <a:r>
              <a:rPr lang="ko-KR" altLang="ko-KR" sz="1400" dirty="0"/>
              <a:t>)</a:t>
            </a:r>
          </a:p>
          <a:p>
            <a:pPr lvl="0"/>
            <a:r>
              <a:rPr lang="ko-KR" altLang="ko-KR" sz="1400" b="1" dirty="0"/>
              <a:t>4. 시간표 AI 추천</a:t>
            </a:r>
            <a:r>
              <a:rPr lang="ko-KR" altLang="ko-KR" sz="1400" dirty="0"/>
              <a:t> — 확정된 로드맵을 </a:t>
            </a:r>
            <a:r>
              <a:rPr lang="ko-KR" altLang="ko-KR" sz="1400" b="1" dirty="0"/>
              <a:t>실제 개설 분반(</a:t>
            </a:r>
            <a:r>
              <a:rPr lang="ko-KR" altLang="ko-KR" sz="1400" b="1" dirty="0" err="1"/>
              <a:t>요일·교시·교수</a:t>
            </a:r>
            <a:r>
              <a:rPr lang="ko-KR" altLang="ko-KR" sz="1400" b="1" dirty="0"/>
              <a:t>)과 대조</a:t>
            </a:r>
            <a:r>
              <a:rPr lang="ko-KR" altLang="ko-KR" sz="1400" dirty="0"/>
              <a:t>해 충돌 없는 다음 학기 시간표 후보 추천</a:t>
            </a:r>
          </a:p>
          <a:p>
            <a:endParaRPr kumimoji="1"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8945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양쪽 모서리가 둥근 사각형 15">
            <a:extLst>
              <a:ext uri="{FF2B5EF4-FFF2-40B4-BE49-F238E27FC236}">
                <a16:creationId xmlns:a16="http://schemas.microsoft.com/office/drawing/2014/main" id="{0D0C8E16-8918-EF4A-83FC-AEE7F1CE6FB0}"/>
              </a:ext>
            </a:extLst>
          </p:cNvPr>
          <p:cNvSpPr/>
          <p:nvPr/>
        </p:nvSpPr>
        <p:spPr>
          <a:xfrm rot="5400000">
            <a:off x="8488568" y="6949121"/>
            <a:ext cx="1664885" cy="16284900"/>
          </a:xfrm>
          <a:prstGeom prst="round2SameRect">
            <a:avLst/>
          </a:prstGeom>
          <a:solidFill>
            <a:srgbClr val="F7F7F7"/>
          </a:solidFill>
          <a:ln>
            <a:noFill/>
          </a:ln>
          <a:effectLst>
            <a:outerShdw blurRad="348304" dist="133471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1F80A9C-A3E5-A246-9CA6-D5CE2B1716DB}"/>
              </a:ext>
            </a:extLst>
          </p:cNvPr>
          <p:cNvGrpSpPr/>
          <p:nvPr/>
        </p:nvGrpSpPr>
        <p:grpSpPr>
          <a:xfrm>
            <a:off x="1767634" y="14564727"/>
            <a:ext cx="718070" cy="827931"/>
            <a:chOff x="2690948" y="8438606"/>
            <a:chExt cx="2821577" cy="3253264"/>
          </a:xfrm>
          <a:solidFill>
            <a:schemeClr val="tx1">
              <a:lumMod val="50000"/>
              <a:lumOff val="50000"/>
              <a:alpha val="63879"/>
            </a:schemeClr>
          </a:solidFill>
        </p:grpSpPr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D6AD6B9C-498C-A742-A2F0-A60B455834A7}"/>
                </a:ext>
              </a:extLst>
            </p:cNvPr>
            <p:cNvSpPr/>
            <p:nvPr/>
          </p:nvSpPr>
          <p:spPr>
            <a:xfrm rot="2700000">
              <a:off x="2690949" y="945750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E4C4F2B-2AC3-F648-AEE1-6B5E6A607EC6}"/>
                </a:ext>
              </a:extLst>
            </p:cNvPr>
            <p:cNvSpPr/>
            <p:nvPr/>
          </p:nvSpPr>
          <p:spPr>
            <a:xfrm rot="18900000">
              <a:off x="2690948" y="10908099"/>
              <a:ext cx="2821577" cy="7837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0409D88-35FD-4B43-8F4E-8DC755898F93}"/>
              </a:ext>
            </a:extLst>
          </p:cNvPr>
          <p:cNvSpPr txBox="1"/>
          <p:nvPr/>
        </p:nvSpPr>
        <p:spPr>
          <a:xfrm>
            <a:off x="2680393" y="14614077"/>
            <a:ext cx="40863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7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기대 효과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55F57-BD11-DCDD-36C8-0390EE7811F8}"/>
              </a:ext>
            </a:extLst>
          </p:cNvPr>
          <p:cNvSpPr txBox="1"/>
          <p:nvPr/>
        </p:nvSpPr>
        <p:spPr>
          <a:xfrm>
            <a:off x="12726326" y="14467125"/>
            <a:ext cx="4181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Technical Overview</a:t>
            </a:r>
            <a:endParaRPr kumimoji="1" lang="ko-KR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453C68A-1C11-41BB-97BF-A7FB9953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35" y="30513008"/>
            <a:ext cx="14796655" cy="139586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6C46FA5-DDBF-4539-A30D-34026E0C05A6}"/>
              </a:ext>
            </a:extLst>
          </p:cNvPr>
          <p:cNvGrpSpPr/>
          <p:nvPr/>
        </p:nvGrpSpPr>
        <p:grpSpPr>
          <a:xfrm rot="10800000">
            <a:off x="1" y="23571262"/>
            <a:ext cx="21599527" cy="6733970"/>
            <a:chOff x="1" y="2241353"/>
            <a:chExt cx="21599527" cy="6733970"/>
          </a:xfrm>
        </p:grpSpPr>
        <p:sp>
          <p:nvSpPr>
            <p:cNvPr id="23" name="사다리꼴[T] 3">
              <a:extLst>
                <a:ext uri="{FF2B5EF4-FFF2-40B4-BE49-F238E27FC236}">
                  <a16:creationId xmlns:a16="http://schemas.microsoft.com/office/drawing/2014/main" id="{404A1BA4-EB0F-4037-96A8-26EB98C07D5B}"/>
                </a:ext>
              </a:extLst>
            </p:cNvPr>
            <p:cNvSpPr/>
            <p:nvPr/>
          </p:nvSpPr>
          <p:spPr>
            <a:xfrm rot="10800000">
              <a:off x="1" y="2241353"/>
              <a:ext cx="21599525" cy="2904229"/>
            </a:xfrm>
            <a:custGeom>
              <a:avLst/>
              <a:gdLst>
                <a:gd name="connsiteX0" fmla="*/ 0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0 w 21599525"/>
                <a:gd name="connsiteY4" fmla="*/ 2904229 h 2904229"/>
                <a:gd name="connsiteX0" fmla="*/ 4127157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4127157 w 21599525"/>
                <a:gd name="connsiteY4" fmla="*/ 2904229 h 2904229"/>
                <a:gd name="connsiteX0" fmla="*/ 3093227 w 21599525"/>
                <a:gd name="connsiteY0" fmla="*/ 2904229 h 2904229"/>
                <a:gd name="connsiteX1" fmla="*/ 0 w 21599525"/>
                <a:gd name="connsiteY1" fmla="*/ 0 h 2904229"/>
                <a:gd name="connsiteX2" fmla="*/ 21599525 w 21599525"/>
                <a:gd name="connsiteY2" fmla="*/ 0 h 2904229"/>
                <a:gd name="connsiteX3" fmla="*/ 21599525 w 21599525"/>
                <a:gd name="connsiteY3" fmla="*/ 2904229 h 2904229"/>
                <a:gd name="connsiteX4" fmla="*/ 3093227 w 21599525"/>
                <a:gd name="connsiteY4" fmla="*/ 2904229 h 2904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9525" h="2904229">
                  <a:moveTo>
                    <a:pt x="3093227" y="2904229"/>
                  </a:moveTo>
                  <a:lnTo>
                    <a:pt x="0" y="0"/>
                  </a:lnTo>
                  <a:lnTo>
                    <a:pt x="21599525" y="0"/>
                  </a:lnTo>
                  <a:lnTo>
                    <a:pt x="21599525" y="2904229"/>
                  </a:lnTo>
                  <a:lnTo>
                    <a:pt x="3093227" y="2904229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004180"/>
                </a:gs>
                <a:gs pos="59000">
                  <a:srgbClr val="00000C"/>
                </a:gs>
              </a:gsLst>
              <a:lin ang="27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4" name="삼각형 11">
              <a:extLst>
                <a:ext uri="{FF2B5EF4-FFF2-40B4-BE49-F238E27FC236}">
                  <a16:creationId xmlns:a16="http://schemas.microsoft.com/office/drawing/2014/main" id="{12FF6185-0AD5-4FB0-9C15-3A1D230B4F1B}"/>
                </a:ext>
              </a:extLst>
            </p:cNvPr>
            <p:cNvSpPr/>
            <p:nvPr/>
          </p:nvSpPr>
          <p:spPr>
            <a:xfrm rot="10800000">
              <a:off x="17599026" y="5145582"/>
              <a:ext cx="4000502" cy="3829741"/>
            </a:xfrm>
            <a:prstGeom prst="triangle">
              <a:avLst>
                <a:gd name="adj" fmla="val 0"/>
              </a:avLst>
            </a:prstGeom>
            <a:gradFill>
              <a:gsLst>
                <a:gs pos="21000">
                  <a:srgbClr val="000517"/>
                </a:gs>
                <a:gs pos="86000">
                  <a:srgbClr val="002A6E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09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1890</TotalTime>
  <Words>254</Words>
  <Application>Microsoft Macintosh PowerPoint</Application>
  <PresentationFormat>사용자 지정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송수민</dc:creator>
  <cp:lastModifiedBy>Dowon Lee</cp:lastModifiedBy>
  <cp:revision>31</cp:revision>
  <dcterms:created xsi:type="dcterms:W3CDTF">2024-08-20T05:23:05Z</dcterms:created>
  <dcterms:modified xsi:type="dcterms:W3CDTF">2026-08-17T05:22:34Z</dcterms:modified>
</cp:coreProperties>
</file>